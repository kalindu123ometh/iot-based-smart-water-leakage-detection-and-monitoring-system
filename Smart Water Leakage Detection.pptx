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0" d="100"/>
          <a:sy n="120" d="100"/>
        </p:scale>
        <p:origin x="1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55419" y="2097434"/>
            <a:ext cx="9281160" cy="1401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520"/>
              </a:lnSpc>
            </a:pPr>
            <a:r>
              <a:rPr sz="4800" b="1" i="0" u="none" dirty="0">
                <a:solidFill>
                  <a:srgbClr val="FFFFFF"/>
                </a:solidFill>
                <a:latin typeface="Montserrat"/>
              </a:rPr>
              <a:t>Smart Water </a:t>
            </a:r>
            <a:r>
              <a:rPr sz="4800" b="1" i="0" u="none" dirty="0">
                <a:solidFill>
                  <a:srgbClr val="00A8E8"/>
                </a:solidFill>
                <a:latin typeface="Montserrat"/>
              </a:rPr>
              <a:t>Leakage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76400" y="3689895"/>
            <a:ext cx="883920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 dirty="0">
                <a:solidFill>
                  <a:srgbClr val="00A8E8"/>
                </a:solidFill>
                <a:latin typeface="Open Sans SemiBold"/>
              </a:rPr>
              <a:t>IoT-Based Monitoring for Smart Cities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76400" y="4531816"/>
            <a:ext cx="8839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6082A6"/>
                </a:solidFill>
                <a:latin typeface="Open Sans"/>
              </a:rPr>
              <a:t>Cyber Sentinels:</a:t>
            </a:r>
            <a:r>
              <a:rPr sz="1350" b="0" i="0" u="none">
                <a:solidFill>
                  <a:srgbClr val="6082A6"/>
                </a:solidFill>
                <a:latin typeface="Open Sans"/>
              </a:rPr>
              <a:t> Kalindu Ometh | Sajjana Maharu | Yasitha Buddhima | Lasith Madhusanka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524500" y="2895600"/>
            <a:ext cx="1143000" cy="57150"/>
          </a:xfrm>
          <a:prstGeom prst="rect">
            <a:avLst/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950606" y="3238500"/>
            <a:ext cx="6290786" cy="819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250" b="1" i="0" u="none" dirty="0">
                <a:solidFill>
                  <a:srgbClr val="FFFFFF"/>
                </a:solidFill>
                <a:latin typeface="Montserrat"/>
              </a:rPr>
              <a:t>Project Overview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04875" y="2676525"/>
            <a:ext cx="49053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B0C4DE"/>
                </a:solidFill>
                <a:latin typeface="Open Sans"/>
              </a:rPr>
              <a:t>Right now, somewhere under a city street, water is leaking out of a pipe and nobody knows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4875" y="3476625"/>
            <a:ext cx="49053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B0C4DE"/>
                </a:solidFill>
                <a:latin typeface="Open Sans"/>
              </a:rPr>
              <a:t>By the time it's discovered, the city has lost thousands of liters and a chunk of its repair budget.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4875" y="4276725"/>
            <a:ext cx="49053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B0C4DE"/>
                </a:solidFill>
                <a:latin typeface="Open Sans"/>
              </a:rPr>
              <a:t>We are building a smart, connected system to catch these leaks within hours, not weeks.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5509" y="1995488"/>
            <a:ext cx="5200650" cy="3771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0" i="0" u="none">
                <a:solidFill>
                  <a:srgbClr val="00A8E8"/>
                </a:solidFill>
                <a:latin typeface="Montserrat SemiBold"/>
              </a:rPr>
              <a:t>Catching Leaks on Day One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695575"/>
            <a:ext cx="209550" cy="219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495675"/>
            <a:ext cx="209550" cy="2190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295775"/>
            <a:ext cx="209550" cy="2190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524500" y="2895600"/>
            <a:ext cx="1143000" cy="57150"/>
          </a:xfrm>
          <a:prstGeom prst="rect">
            <a:avLst/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15552" y="3238500"/>
            <a:ext cx="7160895" cy="819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250" b="1" i="0" u="none" dirty="0">
                <a:solidFill>
                  <a:srgbClr val="FFFFFF"/>
                </a:solidFill>
                <a:latin typeface="Montserrat"/>
              </a:rPr>
              <a:t>Problem Statement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5500687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0" i="0" u="none">
                <a:solidFill>
                  <a:srgbClr val="00A8E8"/>
                </a:solidFill>
                <a:latin typeface="Montserrat SemiBold"/>
              </a:rPr>
              <a:t>The Hidden Threat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0"/>
            <a:ext cx="581025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192238"/>
            <a:ext cx="5500687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 dirty="0">
                <a:solidFill>
                  <a:srgbClr val="FFFFFF"/>
                </a:solidFill>
                <a:latin typeface="Montserrat SemiBold"/>
              </a:rPr>
              <a:t>Invisible Damage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849463"/>
            <a:ext cx="5238750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>
                <a:solidFill>
                  <a:srgbClr val="B0C4DE"/>
                </a:solidFill>
                <a:latin typeface="Open Sans"/>
              </a:rPr>
              <a:t>Treated water is expensive, yet a massive portion never reaches the tap. Cracks open up in buried pipes, and water seeps into the soil unnoticed.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037707"/>
            <a:ext cx="5238750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B0C4DE"/>
                </a:solidFill>
                <a:latin typeface="Open Sans"/>
              </a:rPr>
              <a:t>Thousands of liters vanish daily. Cities only react when residents complain about weak pressure or when the road above visibly collapses, multiplying repair costs exponentially.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19300"/>
            <a:ext cx="3429000" cy="3714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0" y="2019300"/>
            <a:ext cx="3429000" cy="3714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0" y="2019300"/>
            <a:ext cx="3429000" cy="37147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6775" y="3181350"/>
            <a:ext cx="2980372" cy="704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0" i="0" u="none">
                <a:solidFill>
                  <a:srgbClr val="FFFFFF"/>
                </a:solidFill>
                <a:latin typeface="Montserrat SemiBold"/>
              </a:rPr>
              <a:t>Aging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4029075"/>
            <a:ext cx="283845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B0C4DE"/>
                </a:solidFill>
                <a:latin typeface="Open Sans"/>
              </a:rPr>
              <a:t>Pipes that are past their designed lifespan and heavy internal corrosion gradually eat away at structural integrity.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6775" y="3181350"/>
            <a:ext cx="2310288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0" i="0" u="none">
                <a:solidFill>
                  <a:srgbClr val="FFFFFF"/>
                </a:solidFill>
                <a:latin typeface="Montserrat SemiBold"/>
              </a:rPr>
              <a:t>External Stress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6775" y="3676650"/>
            <a:ext cx="283845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B0C4DE"/>
                </a:solidFill>
                <a:latin typeface="Open Sans"/>
              </a:rPr>
              <a:t>Heavy vehicles rumbling overhead and nearby construction activities stress pipe joints never built for massive loads.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86775" y="3181350"/>
            <a:ext cx="2980372" cy="704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0" i="0" u="none">
                <a:solidFill>
                  <a:srgbClr val="FFFFFF"/>
                </a:solidFill>
                <a:latin typeface="Montserrat SemiBold"/>
              </a:rPr>
              <a:t>Reactive Maintenance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6775" y="4029075"/>
            <a:ext cx="283845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B0C4DE"/>
                </a:solidFill>
                <a:latin typeface="Open Sans"/>
              </a:rPr>
              <a:t>Utilities lack real-time visibility, relying on visual damage or pressure complaints rather than predictive data.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447925"/>
            <a:ext cx="428625" cy="4286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6775" y="2447925"/>
            <a:ext cx="533400" cy="4286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6775" y="2447925"/>
            <a:ext cx="428625" cy="4286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0" i="0" u="none">
                <a:solidFill>
                  <a:srgbClr val="00A8E8"/>
                </a:solidFill>
                <a:latin typeface="Montserrat SemiBold"/>
              </a:rPr>
              <a:t>Root Causes of Pipe Leaks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524500" y="2895600"/>
            <a:ext cx="1143000" cy="57150"/>
          </a:xfrm>
          <a:prstGeom prst="rect">
            <a:avLst/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30579" y="3238500"/>
            <a:ext cx="6730841" cy="819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250" b="1" i="0" u="none" dirty="0">
                <a:solidFill>
                  <a:srgbClr val="FFFFFF"/>
                </a:solidFill>
                <a:latin typeface="Montserrat"/>
              </a:rPr>
              <a:t>Proposed Solution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00287"/>
            <a:ext cx="5334000" cy="31527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300287"/>
            <a:ext cx="5334000" cy="31527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2025" y="2690812"/>
            <a:ext cx="4780597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0" i="0" u="none">
                <a:solidFill>
                  <a:srgbClr val="00A8E8"/>
                </a:solidFill>
                <a:latin typeface="Montserrat SemiBold"/>
              </a:rPr>
              <a:t>Continuous Monitoring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962025" y="3186112"/>
            <a:ext cx="4552950" cy="19050"/>
          </a:xfrm>
          <a:prstGeom prst="rect">
            <a:avLst/>
          </a:prstGeom>
          <a:solidFill>
            <a:srgbClr val="1A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2025" y="3395662"/>
            <a:ext cx="455295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B0C4DE"/>
                </a:solidFill>
                <a:latin typeface="Open Sans"/>
              </a:rPr>
              <a:t>A network of low-power pressure, flow, and acoustic sensors placed at strategic junctions. They constantly watch the pipeline, ensuring there are no blind spots waiting to become an infrastructure crisis.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7025" y="2690812"/>
            <a:ext cx="4780597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0" i="0" u="none">
                <a:solidFill>
                  <a:srgbClr val="00A8E8"/>
                </a:solidFill>
                <a:latin typeface="Montserrat SemiBold"/>
              </a:rPr>
              <a:t>Smart Anomaly Detection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677025" y="3186112"/>
            <a:ext cx="4552950" cy="19050"/>
          </a:xfrm>
          <a:prstGeom prst="rect">
            <a:avLst/>
          </a:prstGeom>
          <a:solidFill>
            <a:srgbClr val="1A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7025" y="3395662"/>
            <a:ext cx="455295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B0C4DE"/>
                </a:solidFill>
                <a:latin typeface="Open Sans"/>
              </a:rPr>
              <a:t>A lightweight cloud analytics layer compares incoming live readings against expected baselines. It flags abnormal flow patterns or pressure drops instantly, estimating the exact location for field crews.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0" i="0" u="none">
                <a:solidFill>
                  <a:srgbClr val="00A8E8"/>
                </a:solidFill>
                <a:latin typeface="Montserrat SemiBold"/>
              </a:rPr>
              <a:t>Proactive Data-Driven Defense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/>
      <p:bldP spid="8" grpId="0"/>
      <p:bldP spid="9" grpId="0" animBg="1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04875" y="2124075"/>
            <a:ext cx="49053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>
                <a:solidFill>
                  <a:srgbClr val="B0C4DE"/>
                </a:solidFill>
                <a:latin typeface="Open Sans"/>
              </a:rPr>
              <a:t>Municipal Water Authorities:</a:t>
            </a:r>
            <a:r>
              <a:rPr sz="1500" b="0" i="0" u="none" dirty="0">
                <a:solidFill>
                  <a:srgbClr val="B0C4DE"/>
                </a:solidFill>
                <a:latin typeface="Open Sans"/>
              </a:rPr>
              <a:t> Operators managing networks and paying the price for non-revenue water.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4875" y="2924175"/>
            <a:ext cx="49053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B0C4DE"/>
                </a:solidFill>
                <a:latin typeface="Open Sans"/>
              </a:rPr>
              <a:t>Infrastructure Teams:</a:t>
            </a:r>
            <a:r>
              <a:rPr sz="1500" b="0" i="0" u="none">
                <a:solidFill>
                  <a:srgbClr val="B0C4DE"/>
                </a:solidFill>
                <a:latin typeface="Open Sans"/>
              </a:rPr>
              <a:t> Public works departments dealing with road damage caused by leaks.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4875" y="3724275"/>
            <a:ext cx="49053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B0C4DE"/>
                </a:solidFill>
                <a:latin typeface="Open Sans"/>
              </a:rPr>
              <a:t>Maintenance Crews:</a:t>
            </a:r>
            <a:r>
              <a:rPr sz="1500" b="0" i="0" u="none">
                <a:solidFill>
                  <a:srgbClr val="B0C4DE"/>
                </a:solidFill>
                <a:latin typeface="Open Sans"/>
              </a:rPr>
              <a:t> Field teams who benefit from precise localization to reduce blind digging.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875" y="4524375"/>
            <a:ext cx="49053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B0C4DE"/>
                </a:solidFill>
                <a:latin typeface="Open Sans"/>
              </a:rPr>
              <a:t>Market Need:</a:t>
            </a:r>
            <a:r>
              <a:rPr sz="1500" b="0" i="0" u="none">
                <a:solidFill>
                  <a:srgbClr val="B0C4DE"/>
                </a:solidFill>
                <a:latin typeface="Open Sans"/>
              </a:rPr>
              <a:t> Utilities demand a retrofit-friendly monitoring layer to avoid replacing the entire pipe network.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225" y="1966912"/>
            <a:ext cx="5200650" cy="37719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0" i="0" u="none">
                <a:solidFill>
                  <a:srgbClr val="00A8E8"/>
                </a:solidFill>
                <a:latin typeface="Montserrat SemiBold"/>
              </a:rPr>
              <a:t>Target Users &amp; Market Need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143125"/>
            <a:ext cx="209550" cy="2190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943225"/>
            <a:ext cx="209550" cy="2190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743325"/>
            <a:ext cx="209550" cy="2190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543425"/>
            <a:ext cx="209550" cy="2190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524500" y="2895600"/>
            <a:ext cx="1143000" cy="57150"/>
          </a:xfrm>
          <a:prstGeom prst="rect">
            <a:avLst/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60695" y="3238500"/>
            <a:ext cx="4870608" cy="819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250" b="1" i="0" u="none" dirty="0">
                <a:solidFill>
                  <a:srgbClr val="FFFFFF"/>
                </a:solidFill>
                <a:latin typeface="Montserrat"/>
              </a:rPr>
              <a:t>Methodology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5500687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0" i="0" u="none">
                <a:solidFill>
                  <a:srgbClr val="00A8E8"/>
                </a:solidFill>
                <a:latin typeface="Montserrat SemiBold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268438"/>
            <a:ext cx="5500687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 dirty="0">
                <a:solidFill>
                  <a:srgbClr val="FFFFFF"/>
                </a:solidFill>
                <a:latin typeface="Montserrat SemiBold"/>
              </a:rPr>
              <a:t>Layered IoT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925663"/>
            <a:ext cx="523875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B0C4DE"/>
                </a:solidFill>
                <a:latin typeface="Open Sans"/>
              </a:rPr>
              <a:t>Sensing:</a:t>
            </a:r>
            <a:r>
              <a:rPr sz="1650" b="0" i="0" u="none">
                <a:solidFill>
                  <a:srgbClr val="B0C4DE"/>
                </a:solidFill>
                <a:latin typeface="Open Sans"/>
              </a:rPr>
              <a:t> Pressure and flow nodes capture physical signals from pipeline segments.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778746"/>
            <a:ext cx="523875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B0C4DE"/>
                </a:solidFill>
                <a:latin typeface="Open Sans"/>
              </a:rPr>
              <a:t>Connectivity:</a:t>
            </a:r>
            <a:r>
              <a:rPr sz="1650" b="0" i="0" u="none">
                <a:solidFill>
                  <a:srgbClr val="B0C4DE"/>
                </a:solidFill>
                <a:latin typeface="Open Sans"/>
              </a:rPr>
              <a:t> LoRaWAN / NB-IoT transmits data over long distances with minimal power draw.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631828"/>
            <a:ext cx="523875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B0C4DE"/>
                </a:solidFill>
                <a:latin typeface="Open Sans"/>
              </a:rPr>
              <a:t>Analytics:</a:t>
            </a:r>
            <a:r>
              <a:rPr sz="1650" b="0" i="0" u="none">
                <a:solidFill>
                  <a:srgbClr val="B0C4DE"/>
                </a:solidFill>
                <a:latin typeface="Open Sans"/>
              </a:rPr>
              <a:t> A cloud engine checks real-time data against historical baselines to flag leaks instantly.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4048125"/>
            <a:ext cx="11049000" cy="38100"/>
          </a:xfrm>
          <a:prstGeom prst="rect">
            <a:avLst/>
          </a:prstGeom>
          <a:solidFill>
            <a:srgbClr val="1A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10733" y="4400550"/>
            <a:ext cx="2552193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 dirty="0">
                <a:solidFill>
                  <a:srgbClr val="FFFFFF"/>
                </a:solidFill>
                <a:latin typeface="Montserrat SemiBold"/>
              </a:rPr>
              <a:t>1. Monitor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752975"/>
            <a:ext cx="2430660" cy="639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200" b="0" i="0" u="none">
                <a:solidFill>
                  <a:srgbClr val="B0C4DE"/>
                </a:solidFill>
                <a:latin typeface="Open Sans"/>
              </a:rPr>
              <a:t>Sensor nodes measure pressure, flow, and acoustics along the pipe, nonstop.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413" y="2598687"/>
            <a:ext cx="2552193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FFFFFF"/>
                </a:solidFill>
                <a:latin typeface="Montserrat SemiBold"/>
              </a:rPr>
              <a:t>2. Transmit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44180" y="2951112"/>
            <a:ext cx="2430660" cy="639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200" b="0" i="0" u="none">
                <a:solidFill>
                  <a:srgbClr val="B0C4DE"/>
                </a:solidFill>
                <a:latin typeface="Open Sans"/>
              </a:rPr>
              <a:t>Readings are sent over a low-power wide-area network to the centralized cloud platform.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6094" y="4400550"/>
            <a:ext cx="2552193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FFFFFF"/>
                </a:solidFill>
                <a:latin typeface="Montserrat SemiBold"/>
              </a:rPr>
              <a:t>3. Analyze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16860" y="4752975"/>
            <a:ext cx="2430660" cy="853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200" b="0" i="0" u="none">
                <a:solidFill>
                  <a:srgbClr val="B0C4DE"/>
                </a:solidFill>
                <a:latin typeface="Open Sans"/>
              </a:rPr>
              <a:t>The analytics engine cross-references live data against baseline thresholds to spot anomalies.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28774" y="2385417"/>
            <a:ext cx="2552193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FFFFFF"/>
                </a:solidFill>
                <a:latin typeface="Montserrat SemiBold"/>
              </a:rPr>
              <a:t>4. Alert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9541" y="2737842"/>
            <a:ext cx="2430660" cy="853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200" b="0" i="0" u="none">
                <a:solidFill>
                  <a:srgbClr val="B0C4DE"/>
                </a:solidFill>
                <a:latin typeface="Open Sans"/>
              </a:rPr>
              <a:t>An immediate alert with estimated location is pushed to the operator's web and mobile dashboard.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72530" y="39528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A1429"/>
          </a:solidFill>
          <a:ln w="47625">
            <a:solidFill>
              <a:srgbClr val="00A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45210" y="39528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A1429"/>
          </a:solidFill>
          <a:ln w="47625">
            <a:solidFill>
              <a:srgbClr val="00A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417891" y="39528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A1429"/>
          </a:solidFill>
          <a:ln w="47625">
            <a:solidFill>
              <a:srgbClr val="00A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290571" y="39528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A1429"/>
          </a:solidFill>
          <a:ln w="47625">
            <a:solidFill>
              <a:srgbClr val="00A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0" i="0" u="none">
                <a:solidFill>
                  <a:srgbClr val="00A8E8"/>
                </a:solidFill>
                <a:latin typeface="Montserrat SemiBold"/>
              </a:rPr>
              <a:t>Detection Workflow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 animBg="1"/>
      <p:bldP spid="13" grpId="0" animBg="1"/>
      <p:bldP spid="14" grpId="0" animBg="1"/>
      <p:bldP spid="1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524500" y="2895600"/>
            <a:ext cx="1143000" cy="57150"/>
          </a:xfrm>
          <a:prstGeom prst="rect">
            <a:avLst/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065746" y="3238500"/>
            <a:ext cx="4060507" cy="819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250" b="1" i="0" u="none" dirty="0">
                <a:solidFill>
                  <a:srgbClr val="FFFFFF"/>
                </a:solidFill>
                <a:latin typeface="Montserrat"/>
              </a:rPr>
              <a:t>Conclusion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947886"/>
            <a:ext cx="8839200" cy="496222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065496" y="1528911"/>
            <a:ext cx="8061007" cy="148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 dirty="0">
                <a:solidFill>
                  <a:srgbClr val="FFFFFF"/>
                </a:solidFill>
                <a:latin typeface="Montserrat"/>
              </a:rPr>
              <a:t>Visibility for the Invisible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57425" y="3205311"/>
            <a:ext cx="7677150" cy="19809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sz="1950" b="0" i="0" u="none" dirty="0">
                <a:solidFill>
                  <a:srgbClr val="B0C4DE"/>
                </a:solidFill>
                <a:latin typeface="Open Sans"/>
              </a:rPr>
              <a:t>By bringing continuous, connected monitoring to legacy infrastructure, we empower cities to catch underground leaks in hours instead of weeks—saving millions of liters of water, preserving public budgets, and building a more sustainable future.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494</TotalTime>
  <Words>527</Words>
  <Application>Microsoft Office PowerPoint</Application>
  <PresentationFormat>Widescreen</PresentationFormat>
  <Paragraphs>49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Montserrat</vt:lpstr>
      <vt:lpstr>Montserrat SemiBold</vt:lpstr>
      <vt:lpstr>Open Sans</vt:lpstr>
      <vt:lpstr>Open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kalindu ometh</cp:lastModifiedBy>
  <cp:revision>3</cp:revision>
  <dcterms:created xsi:type="dcterms:W3CDTF">2013-01-27T09:14:16Z</dcterms:created>
  <dcterms:modified xsi:type="dcterms:W3CDTF">2026-08-07T11:53:39Z</dcterms:modified>
  <cp:category/>
</cp:coreProperties>
</file>